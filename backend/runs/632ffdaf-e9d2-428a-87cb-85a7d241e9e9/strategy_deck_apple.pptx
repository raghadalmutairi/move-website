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CADCFC"/>
                </a:solidFill>
                <a:latin typeface="Calibri"/>
              </a:rP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Apple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Strategic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118872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48463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Apple is a global consumer technology company with an integrated hardware–software–services ecosystem spanning iPhone, iPad, Mac, Apple Watch/TV, accessories, operating systems, and content/services (...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118872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48463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For premium consumers and enterprise IT leaders who demand secure, seamless, high‑performance experiences across devices, Apple is the integrated hardware‑software‑services ecosyst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88136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212934"/>
                </a:solidFill>
                <a:latin typeface="Calibri"/>
              </a:rPr>
              <a:t>Launch an on‑device, cross‑device AI assistant program tightly integrated with iOS/iPadOS/macOS to defend platform stickiness against Google/Microsoft AI advances, mitigating AI displacement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Market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23160" y="2011680"/>
            <a:ext cx="29260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600" b="1">
                <a:solidFill>
                  <a:srgbClr val="007A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743200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5A6472"/>
                </a:solidFill>
                <a:latin typeface="Calibri"/>
              </a:rPr>
              <a:t>Key 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011680"/>
            <a:ext cx="29260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743200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5A6472"/>
                </a:solidFill>
                <a:latin typeface="Calibri"/>
              </a:rPr>
              <a:t>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Market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Consumer tech spend in MEA and other regions is shifting from pure hardware to services and experiences, favoring ecosystem bundles and recurring revenue models [42].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Wearables—especially eyewear/headwear—are expected to see significant growth, signaling a next wave of ambient and spatial computing interfaces [43].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Enterprise/education buyers increasingly quantify total economic impact and employee experience benefits when choosing devices, aiding premium ecosystems with demonstrable lifecycle value [47][48][49].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Endpoint management leaders emphasize Apple‑focused simplicity and automation for large fleets, reducing IT friction and supporting enterprise expansion [45][46].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MARKET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Growth Drivers &amp; Market Shifts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Growth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Scale services bundles (Music, iCloud, TV+, Arcade) to capture the shift from hardware to experiences, driving steadier recurring revenue [42].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Expand in wearables and adjacent spatial/eyewear categories to lead the next interface cycle and deepen multi‑device lock‑in [43].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Leverage third‑party TEI data and device‑choice narratives to win enterprise standardization deals, boosting Mac/iPad share [47][48][49].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Market Shifts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Hardware cycle exposure if consumers elongate upgrade timelines during macro slowdowns.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Intensifying competition from Samsung in devices and from Google/Microsoft in platforms, AI, and cloud [16][21][22][24].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Regulatory and policy changes affecting app distribution, default settings, and payments could reduce services take‑rate and flexibility.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Rapid AI UX shifts could reframe platform loyalty if competitors deliver superior on‑device assistants and integrations.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TARGET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Ideal Customer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18288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Company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Premium Consumer Ecosystem Loyalist and Enterprise IT Standardizer (dual‑track GTM).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Consumers: affluent, urban, high LTV households in top global markets and growin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Mixed environments using iOS/Android and macOS/Windows; MDM/EMM deployed (Jamf,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18288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Key 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Fragmented cross‑device experiences reduce productivity and satisfaction.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Security/privacy concerns with cloud‑dependent AI and fragmented platforms.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Hardware cycle volatility and unpredictable costs for enterprises and families.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10881360" cy="1828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10515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Buying 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Enterprise device‑choice initiatives or VDI to native endpoint migrations.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Windows or Android refresh cycles prompting platform reevaluation.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Security incidents or compliance audits pushing for trusted devices and on‑device AI.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Remote/hybrid work expansions needing simpler fleet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STRATEGIC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White Space &amp; Market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Market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Scale services bundles (Music, iCloud, TV+, Arcade) to capture the shift from hardware to experiences, driving steadier recurring revenue [42].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Expand in wearables and adjacent spatial/eyewear categories to lead the next interface cycle and deepen multi‑device lock‑in [43].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Leverage third‑party TEI data and device‑choice narratives to win enterprise standardization deals, boosting Mac/iPad share [47][48][49].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Competitive 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Samsung Electronics: Reliance on Android/third-party OS limits end-to-e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Google (Alphabet): Hardware share trails incumbents; dependence on ad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Microsoft: Mobile OS absence reduces end-to-end device contro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Strategic Positioning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18320" cy="3474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28600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Premium Consumer Ecosystem Loyalists and Enterprise IT Standardizers (plus Creat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78892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Who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78892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A secure, unified, high‑performance experience across phone, computer, wearables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9184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Integrated hardware–software–services ecosystem (devices, OS, services, retail).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9476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That delivers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9476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Own the most seamless on‑device and cross‑device AI experience that elevates 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9768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Unlike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9768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Unlike Samsung (device‑led), Google (services/Android‑led), and Microsoft (Windo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0060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We provide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80060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Tight hardware‑OS‑services integration, global Apple Store/retail reach, strong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Channel Strategy &amp; Mix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029200" cy="3840480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PRIMARY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4663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Apple Retail (Stores + Today at Apple)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4663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Calibri"/>
              </a:rPr>
              <a:t>Funnel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46634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4663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Calibri"/>
              </a:rPr>
              <a:t>Investment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539496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Apple.com + In-OS Surfaces (Settings, App Store, Wallet)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7744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CONVERSION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108960"/>
            <a:ext cx="539496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24612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Carrier/Reseller Partners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65760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DEMAND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389120"/>
            <a:ext cx="539496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52628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Enterprise Field + Partner Co-Sell (MDM/VAR/SI)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3776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Multi-channel approach with clear primary focus and supporting channels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CAMPAIGNS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Campaign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On‑Device AI, Off‑the‑Charts Productivity: cross‑device assistant demos tied to creator and knowledg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6324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Device Choice, Proven Economics: TEI‑driven ABM to CIO/CFO with pilot offer and playbooks.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1480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Your Ecosystem, One Bundle: localized services bundles in MEA/LatAm/SEA with family plans and paymen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8348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6636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Wear It. Work It. Live It.: wearables + spatial roadmap tease with developer tooling and creator sto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Sales Motion &amp;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PROSPECT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Create top-of-funnel awareness and identify accoun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Calibr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Quantify value hypotheses (TEI, AI productivity, 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Calibri"/>
              </a:rPr>
              <a:t>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Design the solution: device mix, management, secur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5A6472"/>
                </a:solidFill>
                <a:latin typeface="Calibri"/>
              </a:rPr>
              <a:t>VALIDATE (PILOT/POC)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Run pilot to confirm TEI benefits and AI/user expe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5A6472"/>
                </a:solidFill>
                <a:latin typeface="Calibri"/>
              </a:rPr>
              <a:t>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Finalize commercials, procurement, and rollout.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Qualification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97680"/>
            <a:ext cx="1088136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MEDDICC adapted for hybrid Consumer + B2B motions: Metrics (TEI outcomes: TCO reduction %, employee NPS lift, downtime reduction); Economic Buyer (CFO/CIO/Head of EUC); Decision Criteria (security, manageability, app compatibility, AI experiences, lifecycle cost); Decision Process (pilot -&gt; security review -&gt; procurement -&gt; deployment); Identify Pain (fragmented endpoints, higher support tickets, low employee satisfaction, AI readiness gap); Champion (IT EUC lead or line-of-business sponsor); Competition (Samsung, Windows OEMs, Android, Google/Microsoft AI); Paper Process (legal, data protection, MDM/IdP integration); Implications (services revenue stabilization, device share gains, lock-in via AI + bundles).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90-Day GTM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Weeks 1–4 (Foundations)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Lock positioning, enable pilots, and ready measurement for AI, services bundles,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AI Assistant GTM Readiness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Enterprise TEI Pack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Services Bundle Localization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Partner Co‑Sell 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474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Weeks 5–8 (Activate)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Launch demand, start enterprise pilots, and drive services attachments.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291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ABM Wave 1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Paid + Organic Launch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Developer Momentum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Creator Proof 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828800"/>
            <a:ext cx="3474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Weeks 9–13 (Scale)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Convert pilots, expand bundles regionally, and institutionalize reporting and QB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291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Pilot-to-Rollout Conversion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Services Expansion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Partner Scale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Community Flywheel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KPIs &amp; Success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914400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North Star: Ecosystem ARPU (12‑month trailing across devices + services per active customer/seat)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Services bundle attach rate on new device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35–45% globally; 20–30% in emerging markets within 6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Early attachment predicts higher ARPU and retention.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On‑device AI monthly active users (MAU) as % of active devices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30–40% within 2 quarters of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Proxy for cross‑device stickiness and differentiation vs pla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Enterprise pilot-to-rollout conversion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55–65%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Validates TEI value prop and de‑risks pipeline.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Developer SDK adoption (new/updated apps using AI and services APIs)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+20–30% YoY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Ecosystem health and feature availability.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Sources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This analysis is based on comprehensive market research including competitive intelligence, customer insights, market trends, and strategic frameworks.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Key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apple.com: Apple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apple.com: Apple Store Online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support.apple.com: Official Apple Support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en.wikipedia.org: Apple Inc. - Wikipedia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rankred.com: 24 Apple Competitors and Alternatives As Of 2026 - RankRed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fourweekmba.com: Apple and Its Competitors: 2026 Market Analysis - FourWeekMB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businessmodelanalyst.com: Top 20 Apple Competitors and Alternatives (2026)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latterly.org: Top 12 Apple Competitors &amp; Alternatives [2026] - latterly.or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en.wikipedia.org: List of largest technology companies by revenue - Wikipedia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fortunebusinessinsights.com: Top 10 Consumer Electronics Companies | Market Leaders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