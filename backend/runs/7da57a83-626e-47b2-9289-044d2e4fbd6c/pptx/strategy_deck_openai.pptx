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800" b="1">
                <a:solidFill>
                  <a:srgbClr val="CADCFC"/>
                </a:solidFill>
                <a:latin typeface="Calibri"/>
              </a:rPr>
              <a:t>GO-TO-MARKET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828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OpenAI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Calibri"/>
              </a:rP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5A6472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1E2761"/>
                </a:solidFill>
                <a:latin typeface="Calibri"/>
              </a:rPr>
              <a:t>Strategic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12080" cy="1188720"/>
          </a:xfrm>
          <a:prstGeom prst="roundRect">
            <a:avLst/>
          </a:prstGeom>
          <a:solidFill>
            <a:srgbClr val="F2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Calibri"/>
              </a:rPr>
              <a:t>Market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484632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OpenAI operates as a global AI research and deployment company offering foundation models, enterprise AI agent deployment services, and developer APIs. Its mission focuses on ensuring AGI benefits all...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737360"/>
            <a:ext cx="5212080" cy="1188720"/>
          </a:xfrm>
          <a:prstGeom prst="roundRect">
            <a:avLst/>
          </a:prstGeom>
          <a:solidFill>
            <a:srgbClr val="F2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Calibri"/>
              </a:rPr>
              <a:t>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40280"/>
            <a:ext cx="484632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For enterprise AI transformation leaders who must ship governed, production-grade AI agents fast, OpenAI is the enterprise AI platform that delivers frontier models, compliant gove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Key 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881360" cy="1828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212934"/>
                </a:solidFill>
                <a:latin typeface="Calibri"/>
              </a:rPr>
              <a:t>Productize governance: Launch an enterprise governance toolkit (auditing, access controls, evals, incident workflows) to reduce black-box and adoption risks noted in the market [48].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5A6472"/>
                </a:solidFill>
                <a:latin typeface="Calibri"/>
              </a:rPr>
              <a:t>MARKET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1E2761"/>
                </a:solidFill>
                <a:latin typeface="Calibri"/>
              </a:rPr>
              <a:t>Market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828800"/>
            <a:ext cx="32004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23160" y="2011680"/>
            <a:ext cx="292608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3600" b="1">
                <a:solidFill>
                  <a:srgbClr val="007AFF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3160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5A6472"/>
                </a:solidFill>
                <a:latin typeface="Calibri"/>
              </a:rPr>
              <a:t>Key Trends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32004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011680"/>
            <a:ext cx="292608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3600" b="1">
                <a:solidFill>
                  <a:srgbClr val="10B981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5A6472"/>
                </a:solidFill>
                <a:latin typeface="Calibri"/>
              </a:rPr>
              <a:t>Opportunities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Market Trends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12934"/>
                </a:solidFill>
                <a:latin typeface="Calibri"/>
              </a:rPr>
              <a:t>• Enterprise shift from basic generative AI to agentic workflows and autonomous task orchestration, validated by Gartner recognition of coding agents [50][52].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34"/>
                </a:solidFill>
                <a:latin typeface="Calibri"/>
              </a:rPr>
              <a:t>• Cloud-based AI platform deployment dominates as organizations standardize AI development and operations in the cloud [48].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34"/>
                </a:solidFill>
                <a:latin typeface="Calibri"/>
              </a:rPr>
              <a:t>• Governance, safety, and explainability become buying criteria due to black-box concerns and regulatory pressure [48].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34"/>
                </a:solidFill>
                <a:latin typeface="Calibri"/>
              </a:rPr>
              <a:t>• Vendor consolidation and partnerships across hyperscalers and AI model providers to accelerate time-to-value in enterprise use cases [48].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5A6472"/>
                </a:solidFill>
                <a:latin typeface="Calibri"/>
              </a:rPr>
              <a:t>MARKET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1E2761"/>
                </a:solidFill>
                <a:latin typeface="Calibri"/>
              </a:rPr>
              <a:t>Growth Drivers &amp; Market Shifts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12080" cy="41148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48463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Growth Drivers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48463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12934"/>
                </a:solidFill>
                <a:latin typeface="Calibri"/>
              </a:rPr>
              <a:t>• Scale enterprise agent deployments and repeatable patterns via the Frontier Program to capture growing B2B demand [6][48].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34"/>
                </a:solidFill>
                <a:latin typeface="Calibri"/>
              </a:rPr>
              <a:t>• Productize governance, safety, and compliance features to turn adoption barriers into differentiators [48].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34"/>
                </a:solidFill>
                <a:latin typeface="Calibri"/>
              </a:rPr>
              <a:t>• Pursue vertical solutions (e.g., software engineering, customer support) where agent productivity gains are measurable and defensible [50][48].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737360"/>
            <a:ext cx="5212080" cy="41148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8463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Market Shifts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377440"/>
            <a:ext cx="48463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12934"/>
                </a:solidFill>
                <a:latin typeface="Calibri"/>
              </a:rPr>
              <a:t>• Competitive displacement risk from Anthropic and Google/DeepMind as enterprises run multi-model strategies [17][18][19][26].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34"/>
                </a:solidFill>
                <a:latin typeface="Calibri"/>
              </a:rPr>
              <a:t>• Adoption friction from explainability, talent gaps, and organizational readiness challenges that slow production rollouts [48].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34"/>
                </a:solidFill>
                <a:latin typeface="Calibri"/>
              </a:rPr>
              <a:t>• Compute capacity/cost exposure inherent to scaling frontier models and agent workloads [48][49].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5A6472"/>
                </a:solidFill>
                <a:latin typeface="Calibri"/>
              </a:rPr>
              <a:t>TARGET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1E2761"/>
                </a:solidFill>
                <a:latin typeface="Calibri"/>
              </a:rPr>
              <a:t>Ideal Customer Profile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12080" cy="1828800"/>
          </a:xfrm>
          <a:prstGeom prst="roundRect">
            <a:avLst/>
          </a:prstGeom>
          <a:solidFill>
            <a:srgbClr val="F2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Calibri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212934"/>
                </a:solidFill>
                <a:latin typeface="Calibri"/>
              </a:rPr>
              <a:t>• Enterprise AI Transformation Leader (VP/Head of AI, CDO) at Global 2000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12934"/>
                </a:solidFill>
                <a:latin typeface="Calibri"/>
              </a:rPr>
              <a:t>• Global enterprises (Telecom, Financial Services, Retail, Healthcare), 5k+ employ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12934"/>
                </a:solidFill>
                <a:latin typeface="Calibri"/>
              </a:rPr>
              <a:t>• Modern data stack, cloud deployment (AWS/Azure/GCP), CI/CD with feature flags,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737360"/>
            <a:ext cx="5212080" cy="1828800"/>
          </a:xfrm>
          <a:prstGeom prst="roundRect">
            <a:avLst/>
          </a:prstGeom>
          <a:solidFill>
            <a:srgbClr val="F2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Calibri"/>
              </a:rPr>
              <a:t>Key Pain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4846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212934"/>
                </a:solidFill>
                <a:latin typeface="Calibri"/>
              </a:rPr>
              <a:t>• Difficulty moving from PoCs to governed, production agents with SLAs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12934"/>
                </a:solidFill>
                <a:latin typeface="Calibri"/>
              </a:rPr>
              <a:t>• Black-box concerns, auditability, and regulatory exposure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12934"/>
                </a:solidFill>
                <a:latin typeface="Calibri"/>
              </a:rPr>
              <a:t>• Talent shortages to design, evaluate, and operate agentic systems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40480"/>
            <a:ext cx="10881360" cy="18288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105156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Calibri"/>
              </a:rPr>
              <a:t>Buying Triggers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891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212934"/>
                </a:solidFill>
                <a:latin typeface="Calibri"/>
              </a:rPr>
              <a:t>• Board mandate for AI transformation with quarterly ROI targets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12934"/>
                </a:solidFill>
                <a:latin typeface="Calibri"/>
              </a:rPr>
              <a:t>• Contact center modernization or software engineering efficiency programs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12934"/>
                </a:solidFill>
                <a:latin typeface="Calibri"/>
              </a:rPr>
              <a:t>• Cloud migration or data platform refresh creating a window for AI platform selection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12934"/>
                </a:solidFill>
                <a:latin typeface="Calibri"/>
              </a:rPr>
              <a:t>• Regulatory audits or new governance requirements (privacy, model risk)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5A6472"/>
                </a:solidFill>
                <a:latin typeface="Calibri"/>
              </a:rPr>
              <a:t>STRATEGIC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1E2761"/>
                </a:solidFill>
                <a:latin typeface="Calibri"/>
              </a:rPr>
              <a:t>White Space &amp; Market Gaps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12080" cy="41148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48463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Calibri"/>
              </a:rPr>
              <a:t>Market Opportunities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48463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12934"/>
                </a:solidFill>
                <a:latin typeface="Calibri"/>
              </a:rPr>
              <a:t>• Scale enterprise agent deployments and repeatable patterns via the Frontier Program to capture growing B2B demand [6][48].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34"/>
                </a:solidFill>
                <a:latin typeface="Calibri"/>
              </a:rPr>
              <a:t>• Productize governance, safety, and compliance features to turn adoption barriers into differentiators [48].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12934"/>
                </a:solidFill>
                <a:latin typeface="Calibri"/>
              </a:rPr>
              <a:t>• Pursue vertical solutions (e.g., software engineering, customer support) where agent productivity gains are measurable and defensible [50][48].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737360"/>
            <a:ext cx="5212080" cy="41148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8463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  <a:latin typeface="Calibri"/>
              </a:rPr>
              <a:t>Competitive 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377440"/>
            <a:ext cx="48463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212934"/>
                </a:solidFill>
                <a:latin typeface="Calibri"/>
              </a:rPr>
              <a:t>• Anthropic: Reliance on distribution through partner clouds co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12934"/>
                </a:solidFill>
                <a:latin typeface="Calibri"/>
              </a:rPr>
              <a:t>• Google (Gemini and DeepMind): Public-facing sources provided do not detail enter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12934"/>
                </a:solidFill>
                <a:latin typeface="Calibri"/>
              </a:rPr>
              <a:t>• Microsoft Azure AI: Model innovation narrative depends on partnerships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5A6472"/>
                </a:solidFill>
                <a:latin typeface="Calibri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1E2761"/>
                </a:solidFill>
                <a:latin typeface="Calibri"/>
              </a:rPr>
              <a:t>Strategic Positioning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011680"/>
            <a:ext cx="9418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286000"/>
            <a:ext cx="1828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Calibri"/>
              </a:rPr>
              <a:t>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286000"/>
            <a:ext cx="68580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Global enterprises and high-growth software companies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788920"/>
            <a:ext cx="1828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Calibri"/>
              </a:rPr>
              <a:t>Who need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88920"/>
            <a:ext cx="68580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to deploy governed, explainable, and scalable agentic workflows in production wi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91840"/>
            <a:ext cx="1828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Calibri"/>
              </a:rPr>
              <a:t>Our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291840"/>
            <a:ext cx="68580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Enterprise AI platform for agentic workflows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794760"/>
            <a:ext cx="1828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Calibri"/>
              </a:rPr>
              <a:t>That delivers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794760"/>
            <a:ext cx="68580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fast time-to-value with compliant governance and vertical agent blueprints at fr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297680"/>
            <a:ext cx="1828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Calibri"/>
              </a:rPr>
              <a:t>Unlike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297680"/>
            <a:ext cx="68580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providers focused on single-model access or generic APIs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800600"/>
            <a:ext cx="1828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Calibri"/>
              </a:rPr>
              <a:t>We provide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800600"/>
            <a:ext cx="68580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Gartner recognition in enterprise coding agents and generative AI providers; Fro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5A6472"/>
                </a:solidFill>
                <a:latin typeface="Calibri"/>
              </a:rPr>
              <a:t>GO-TO-MARKET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1E2761"/>
                </a:solidFill>
                <a:latin typeface="Calibri"/>
              </a:rPr>
              <a:t>Channel Strategy &amp; Mix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029200" cy="3840480"/>
          </a:xfrm>
          <a:prstGeom prst="roundRect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466344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PRIMARY CHANNEL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466344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Executive ABM (1:1/1:few)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74720"/>
            <a:ext cx="46634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CADCFC"/>
                </a:solidFill>
                <a:latin typeface="Calibri"/>
              </a:rPr>
              <a:t>Funnel 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40480"/>
            <a:ext cx="46634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DEMAND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46634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CADCFC"/>
                </a:solidFill>
                <a:latin typeface="Calibri"/>
              </a:rPr>
              <a:t>Investment Focus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120640"/>
            <a:ext cx="466344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28800"/>
            <a:ext cx="5394960" cy="118872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65960"/>
            <a:ext cx="50292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Technical content + docs + SDKs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77440"/>
            <a:ext cx="50292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AWARENESS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108960"/>
            <a:ext cx="5394960" cy="118872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3246120"/>
            <a:ext cx="50292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Frontier Program field workshops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657600"/>
            <a:ext cx="50292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CONVERSION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389120"/>
            <a:ext cx="5394960" cy="118872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526280"/>
            <a:ext cx="50292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Gartner/Analyst relations + citations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937760"/>
            <a:ext cx="50292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AWARENESS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436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5A6472"/>
                </a:solidFill>
                <a:latin typeface="Calibri"/>
              </a:rPr>
              <a:t>Multi-channel approach with clear primary focus and supporting channels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5A6472"/>
                </a:solidFill>
                <a:latin typeface="Calibri"/>
              </a:rPr>
              <a:t>CAMPAIGNS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1E2761"/>
                </a:solidFill>
                <a:latin typeface="Calibri"/>
              </a:rPr>
              <a:t>Campaign Recommendations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881360" cy="9144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731520" cy="6400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2400" b="1">
                <a:solidFill>
                  <a:srgbClr val="007AFF"/>
                </a:solidFill>
                <a:latin typeface="Calibri"/>
              </a:rP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11680"/>
            <a:ext cx="94183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12934"/>
                </a:solidFill>
                <a:latin typeface="Calibri"/>
              </a:rPr>
              <a:t>Governance Is a Feature: launch of enterprise governance toolkit with workshops and live demos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80360"/>
            <a:ext cx="10881360" cy="9144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731520" cy="6400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2400" b="1">
                <a:solidFill>
                  <a:srgbClr val="007AFF"/>
                </a:solidFill>
                <a:latin typeface="Calibri"/>
              </a:rP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063240"/>
            <a:ext cx="94183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12934"/>
                </a:solidFill>
                <a:latin typeface="Calibri"/>
              </a:rPr>
              <a:t>Ship Agents to Production: Frontier Program roadshow with co-design sessions and pilot SLAs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10881360" cy="9144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731520" cy="6400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2400" b="1">
                <a:solidFill>
                  <a:srgbClr val="007AFF"/>
                </a:solidFill>
                <a:latin typeface="Calibri"/>
              </a:rP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114800"/>
            <a:ext cx="94183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12934"/>
                </a:solidFill>
                <a:latin typeface="Calibri"/>
              </a:rPr>
              <a:t>From Prompt to Platform: content series and repos on agent orchestration, evals, and 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983480"/>
            <a:ext cx="10881360" cy="9144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120640"/>
            <a:ext cx="731520" cy="6400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2400" b="1">
                <a:solidFill>
                  <a:srgbClr val="007AFF"/>
                </a:solidFill>
                <a:latin typeface="Calibri"/>
              </a:rP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166360"/>
            <a:ext cx="941832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12934"/>
                </a:solidFill>
                <a:latin typeface="Calibri"/>
              </a:rPr>
              <a:t>Multi-Model Without Mayhem: interoperability and routing positioning to reduce vendor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5A6472"/>
                </a:solidFill>
                <a:latin typeface="Calibri"/>
              </a:rPr>
              <a:t>SALES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1E2761"/>
                </a:solidFill>
                <a:latin typeface="Calibri"/>
              </a:rPr>
              <a:t>Sales Motion &amp; Process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192024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737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Calibri"/>
              </a:rPr>
              <a:t>PROSPECT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737360" cy="73152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000" b="0">
                <a:solidFill>
                  <a:srgbClr val="212934"/>
                </a:solidFill>
                <a:latin typeface="Calibri"/>
              </a:rPr>
              <a:t>Target accounts with high agentic workflow potenti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2468880"/>
            <a:ext cx="2743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000" b="0">
                <a:solidFill>
                  <a:srgbClr val="5A6472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2011680"/>
            <a:ext cx="192024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0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2148840"/>
            <a:ext cx="1737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1">
                <a:solidFill>
                  <a:srgbClr val="007AFF"/>
                </a:solidFill>
                <a:latin typeface="Calibri"/>
              </a:rPr>
              <a:t>DISCOVER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560320"/>
            <a:ext cx="1737360" cy="73152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000" b="0">
                <a:solidFill>
                  <a:srgbClr val="212934"/>
                </a:solidFill>
                <a:latin typeface="Calibri"/>
              </a:rPr>
              <a:t>Quantify pains, success metrics, and governance 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468880"/>
            <a:ext cx="2743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000" b="0">
                <a:solidFill>
                  <a:srgbClr val="5A6472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011680"/>
            <a:ext cx="192024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0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148840"/>
            <a:ext cx="1737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1">
                <a:solidFill>
                  <a:srgbClr val="007AFF"/>
                </a:solidFill>
                <a:latin typeface="Calibri"/>
              </a:rPr>
              <a:t>SOLUTION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560320"/>
            <a:ext cx="1737360" cy="73152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000" b="0">
                <a:solidFill>
                  <a:srgbClr val="212934"/>
                </a:solidFill>
                <a:latin typeface="Calibri"/>
              </a:rPr>
              <a:t>Co-design agent architecture, governance toolkit,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468880"/>
            <a:ext cx="2743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000" b="0">
                <a:solidFill>
                  <a:srgbClr val="5A6472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011680"/>
            <a:ext cx="192024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2148840"/>
            <a:ext cx="1737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1">
                <a:solidFill>
                  <a:srgbClr val="5A6472"/>
                </a:solidFill>
                <a:latin typeface="Calibri"/>
              </a:rPr>
              <a:t>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560320"/>
            <a:ext cx="1737360" cy="73152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000" b="0">
                <a:solidFill>
                  <a:srgbClr val="212934"/>
                </a:solidFill>
                <a:latin typeface="Calibri"/>
              </a:rPr>
              <a:t>Prove value in production-like environment with 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468880"/>
            <a:ext cx="27432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000" b="0">
                <a:solidFill>
                  <a:srgbClr val="5A6472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2011680"/>
            <a:ext cx="192024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2148840"/>
            <a:ext cx="1737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1">
                <a:solidFill>
                  <a:srgbClr val="5A6472"/>
                </a:solidFill>
                <a:latin typeface="Calibri"/>
              </a:rPr>
              <a:t>PROCURE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2560320"/>
            <a:ext cx="1737360" cy="73152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000" b="0">
                <a:solidFill>
                  <a:srgbClr val="212934"/>
                </a:solidFill>
                <a:latin typeface="Calibri"/>
              </a:rPr>
              <a:t>Close commercials, security, and legal.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404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Qualification Framework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29768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12934"/>
                </a:solidFill>
                <a:latin typeface="Calibri"/>
              </a:rPr>
              <a:t>MEDDICC adapted for Enterprise AI Agents: Metrics (business KPIs like cycle time, CSAT, defect rate), Economic Buyer (CIO/CDO/P&amp;L owner), Decision Criteria (security, governance, latency, accuracy, TCO), Decision Process (pilot-&gt;risk review-&gt;security-&gt;legal-&gt;exec signoff), Identify Pain (agentic workflow gaps, talent bottlenecks), Champion (VP AI/Platform), Competition (Anthropic, Google/DeepMind, Azure AI; status quo); add Technical Fit (cloud, data residency, model constraints) and Governance Fit (RACI, audit, evals).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5A6472"/>
                </a:solidFill>
                <a:latin typeface="Calibri"/>
              </a:rPr>
              <a:t>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1E2761"/>
                </a:solidFill>
                <a:latin typeface="Calibri"/>
              </a:rPr>
              <a:t>90-Day GTM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474720" cy="3657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Calibri"/>
              </a:rPr>
              <a:t>Weeks 1–4 (Foundations)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31089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Stand up governance-as-a-feature and scalable enterprise playbooks.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Governance Toolkit v1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Vertical Agent Blueprints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Frontier Program Packaging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Partner Pod Enablement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474720" cy="3657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0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007AFF"/>
                </a:solidFill>
                <a:latin typeface="Calibri"/>
              </a:rPr>
              <a:t>Weeks 5–8 (Activate)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560320"/>
            <a:ext cx="31089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Run pilots at scale; validate governance and economics.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29184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Pilot Wave 1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Eval &amp; Red-Team Program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Multi-Model Orchestration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Demand Gen Campaigns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828800"/>
            <a:ext cx="3474720" cy="3657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  <a:latin typeface="Calibri"/>
              </a:rPr>
              <a:t>Weeks 9–13 (Scale)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560320"/>
            <a:ext cx="31089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212934"/>
                </a:solidFill>
                <a:latin typeface="Calibri"/>
              </a:rPr>
              <a:t>Convert pilots to production; expand footprints and partner delivery.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29184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Production Hardening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Pilot-to-Prod Conversions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Expansion Playbooks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Partner Scale-up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5A6472"/>
                </a:solidFill>
                <a:latin typeface="Calibri"/>
              </a:rPr>
              <a:t>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1E2761"/>
                </a:solidFill>
                <a:latin typeface="Calibri"/>
              </a:rPr>
              <a:t>KPIs &amp; Success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914400"/>
          </a:xfrm>
          <a:prstGeom prst="roundRect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10332720" cy="5486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North Star: Number of production agent workflows live at enterprise customers (per quarter)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17520"/>
            <a:ext cx="2560320" cy="2286000"/>
          </a:xfrm>
          <a:prstGeom prst="roundRect">
            <a:avLst/>
          </a:prstGeom>
          <a:solidFill>
            <a:srgbClr val="F2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22860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Qualified Frontier Program opportunities created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49039"/>
            <a:ext cx="22860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600" b="1">
                <a:solidFill>
                  <a:srgbClr val="007AFF"/>
                </a:solidFill>
                <a:latin typeface="Calibri"/>
              </a:rPr>
              <a:t>30–50 per quarter globally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89120"/>
            <a:ext cx="22860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5A6472"/>
                </a:solidFill>
                <a:latin typeface="Calibri"/>
              </a:rPr>
              <a:t>Signals pipeline of enterprises ready for co-design and pilo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3017520"/>
            <a:ext cx="2560320" cy="2286000"/>
          </a:xfrm>
          <a:prstGeom prst="roundRect">
            <a:avLst/>
          </a:prstGeom>
          <a:solidFill>
            <a:srgbClr val="F2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3200400"/>
            <a:ext cx="22860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Governance toolkit activations (enterprise tenants)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749039"/>
            <a:ext cx="22860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600" b="1">
                <a:solidFill>
                  <a:srgbClr val="007AFF"/>
                </a:solidFill>
                <a:latin typeface="Calibri"/>
              </a:rPr>
              <a:t>100–150 activations per quarter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389120"/>
            <a:ext cx="22860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5A6472"/>
                </a:solidFill>
                <a:latin typeface="Calibri"/>
              </a:rPr>
              <a:t>Proxy for de-risked deployments and faster security approval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3017520"/>
            <a:ext cx="2560320" cy="2286000"/>
          </a:xfrm>
          <a:prstGeom prst="roundRect">
            <a:avLst/>
          </a:prstGeom>
          <a:solidFill>
            <a:srgbClr val="F2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3200400"/>
            <a:ext cx="22860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Vertical blueprint downloads/clones (coding, support, knowledge)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3749039"/>
            <a:ext cx="22860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600" b="1">
                <a:solidFill>
                  <a:srgbClr val="007AFF"/>
                </a:solidFill>
                <a:latin typeface="Calibri"/>
              </a:rPr>
              <a:t>5,000–8,000 per quarter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4389120"/>
            <a:ext cx="22860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5A6472"/>
                </a:solidFill>
                <a:latin typeface="Calibri"/>
              </a:rPr>
              <a:t>Top-of-funnel product interest with intent to build.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3017520"/>
            <a:ext cx="2560320" cy="2286000"/>
          </a:xfrm>
          <a:prstGeom prst="roundRect">
            <a:avLst/>
          </a:prstGeom>
          <a:solidFill>
            <a:srgbClr val="F2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3200400"/>
            <a:ext cx="22860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1E2761"/>
                </a:solidFill>
                <a:latin typeface="Calibri"/>
              </a:rPr>
              <a:t>Partner-attached deals (% of enterprise bookings)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749039"/>
            <a:ext cx="228600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600" b="1">
                <a:solidFill>
                  <a:srgbClr val="007AFF"/>
                </a:solidFill>
                <a:latin typeface="Calibri"/>
              </a:rPr>
              <a:t>35%–50% partner-attached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389120"/>
            <a:ext cx="22860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5A6472"/>
                </a:solidFill>
                <a:latin typeface="Calibri"/>
              </a:rPr>
              <a:t>Scales delivery capacity and mitigates talent bottlenecks.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5A6472"/>
                </a:solidFill>
                <a:latin typeface="Calibr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200" b="1">
                <a:solidFill>
                  <a:srgbClr val="1E2761"/>
                </a:solidFill>
                <a:latin typeface="Calibri"/>
              </a:rPr>
              <a:t>Sources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Research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12934"/>
                </a:solidFill>
                <a:latin typeface="Calibri"/>
              </a:rPr>
              <a:t>This analysis is based on comprehensive market research including competitive intelligence, customer insights, market trends, and strategic frameworks.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Key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openai.smapply.org: OpenAI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github.com: OpenAI - GitHub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open-openai.com: Congratulations! - OpenOpenAI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en.wikipedia.org: Products and applications of OpenAI - Wikipedia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en.wikipedia.org: OpenAI - Wikipedia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openai.com: OpenAI Frontier | Enterprise platform for AI agents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openai.com: AI Platforms to Accelerate your Business | OpenAI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chatgpt.com: ChatGPT for enterprise - OpenAI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distillintelligence.com: OpenAI Competitors: Complete List &amp; Market Landscape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12934"/>
                </a:solidFill>
                <a:latin typeface="Calibri"/>
              </a:rPr>
              <a:t>• thebusinessdive.com: Top 12 OpenAI Competitors &amp; Alternatives Revealed (2026)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