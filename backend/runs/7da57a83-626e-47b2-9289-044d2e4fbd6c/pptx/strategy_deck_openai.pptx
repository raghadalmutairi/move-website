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5156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800" b="1">
                <a:solidFill>
                  <a:srgbClr val="CADCFC"/>
                </a:solidFill>
                <a:latin typeface="Calibri"/>
              </a:rPr>
              <a:t>GO-TO-MARKET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1051560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OpenAI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572000"/>
            <a:ext cx="105156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CADCFC"/>
                </a:solidFill>
                <a:latin typeface="Calibri"/>
              </a:rPr>
              <a:t>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OpenAI operates as a global AI research and deployment company offering foundation models, enterprise AI agent deployment services, and developer APIs. Its mission focuses on ensuring AGI benefits all...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18872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40280"/>
            <a:ext cx="484632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For enterprise AI transformation leaders who must ship governed, production-grade AI agents fast, OpenAI is the enterprise AI platform that delivers frontier models, compliant gove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20040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088136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0">
                <a:solidFill>
                  <a:srgbClr val="212934"/>
                </a:solidFill>
                <a:latin typeface="Calibri"/>
              </a:rPr>
              <a:t>Productize governance: Launch an enterprise governance toolkit (auditing, access controls, evals, incident workflows) to reduce black-box and adoption risks noted in the market [48].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Market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007AFF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316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Key Trends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32004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9260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743200"/>
            <a:ext cx="292608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0">
                <a:solidFill>
                  <a:srgbClr val="5A6472"/>
                </a:solidFill>
                <a:latin typeface="Calibri"/>
              </a:rPr>
              <a:t>Opportunities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Market 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Enterprise shift from basic generative AI to agentic workflows and autonomous task orchestration, validated by Gartner recognition of coding agents [50][52].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Cloud-based AI platform deployment dominates as organizations standardize AI development and operations in the cloud [48].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Governance, safety, and explainability become buying criteria due to black-box concerns and regulatory pressure [48].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Vendor consolidation and partnerships across hyperscalers and AI model providers to accelerate time-to-value in enterprise use cases [48].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MARKET DYNAMICS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Growth Drivers &amp; Market Shifts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Growth Drivers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enterprise agent deployments and repeatable patterns via the Frontier Program to capture growing B2B demand [6][48].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Productize governance, safety, and compliance features to turn adoption barriers into differentiators [48].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Pursue vertical solutions (e.g., software engineering, customer support) where agent productivity gains are measurable and defensible [50][48].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E2761"/>
                </a:solidFill>
                <a:latin typeface="Calibri"/>
              </a:rPr>
              <a:t>Market Shifts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Competitive displacement risk from Anthropic and Google/DeepMind as enterprises run multi-model strategies [17][18][19][26].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Adoption friction from explainability, talent gaps, and organizational readiness challenges that slow production rollouts [48].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Compute capacity/cost exposure inherent to scaling frontier models and agent workloads [48][49].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Ideal Customer Profile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Company 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Enterprise AI Transformation Leader (VP/Head of AI, CDO) at Global 2000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Global enterprises (Telecom, Financial Services, Retail, Healthcare), 5k+ employ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Modern data stack, cloud deployment (AWS/Azure/GCP), CI/CD with feature flags,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18288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74519"/>
            <a:ext cx="484632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Key Pain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286000"/>
            <a:ext cx="4846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Difficulty moving from PoCs to governed, production agents with SLAs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Black-box concerns, auditability, and regulatory exposure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Talent shortages to design, evaluate, and operate agentic 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840480"/>
            <a:ext cx="10881360" cy="1828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1E2761"/>
                </a:solidFill>
                <a:latin typeface="Calibri"/>
              </a:rPr>
              <a:t>Buying Triggers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8912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Board mandate for AI transformation with quarterly ROI targets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Contact center modernization or software engineering efficiency programs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Cloud migration or data platform refresh creating a window for AI platform selection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Regulatory audits or new governance requirements (privacy, model risk)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STRATEGIC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White Space &amp; Market Gaps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Market Opportunities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Scale enterprise agent deployments and repeatable patterns via the Frontier Program to capture growing B2B demand [6][48].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Productize governance, safety, and compliance features to turn adoption barriers into differentiators [48].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212934"/>
                </a:solidFill>
                <a:latin typeface="Calibri"/>
              </a:rPr>
              <a:t>• Pursue vertical solutions (e.g., software engineering, customer support) where agent productivity gains are measurable and defensible [50][48].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737360"/>
            <a:ext cx="5212080" cy="41148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Competitive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Anthropic: Reliance on distribution through partner clouds co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Google (Gemini and DeepMind): Public-facing sources provided do not detail enter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212934"/>
                </a:solidFill>
                <a:latin typeface="Calibri"/>
              </a:rPr>
              <a:t>• Microsoft Azure AI: Model innovation narrative depends on partnerships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Strategic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011680"/>
            <a:ext cx="9418320" cy="3474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22860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2860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Global enterprises and high-growth software companies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78892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Who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78892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to deploy governed, explainable, and scalable agentic workflows in production wi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29184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Our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29184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Enterprise AI platform for agentic workflows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79476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That delivers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9476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fast time-to-value with compliant governance and vertical agent blueprints at fr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29768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Unlike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29768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providers focused on single-model access or generic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800600"/>
            <a:ext cx="1828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1E2761"/>
                </a:solidFill>
                <a:latin typeface="Calibri"/>
              </a:rPr>
              <a:t>We provide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800600"/>
            <a:ext cx="68580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Gartner recognition in enterprise coding agents and generative AI providers; Fro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Channel Strategy &amp; Mix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5029200" cy="384048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PRIMARY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4663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Executive ABM (1:1/1:few)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7472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Funnel Role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840480"/>
            <a:ext cx="4663440" cy="8229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DEMAND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4663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1">
                <a:solidFill>
                  <a:srgbClr val="CADCFC"/>
                </a:solidFill>
                <a:latin typeface="Calibri"/>
              </a:rPr>
              <a:t>Investment 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20640"/>
            <a:ext cx="4663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6596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Technical content + docs + SDKs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7744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AWARENESS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10896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324612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Frontier Program field workshops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65760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4389120"/>
            <a:ext cx="5394960" cy="118872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Gartner/Analyst relations + citations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937760"/>
            <a:ext cx="50292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AWARENESS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8813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5A6472"/>
                </a:solidFill>
                <a:latin typeface="Calibri"/>
              </a:rPr>
              <a:t>Multi-channel approach with clear primary focus and supporting channels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CAMPAIGNS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Campaign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01168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Governance Is a Feature: launch of enterprise governance toolkit with workshops and live demos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8036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6324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Ship Agents to Production: Frontier Program roadshow with co-design sessions and pilot SLAs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11480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From Prompt to Platform: content series and repos on agent orchestration, evals, and routing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983480"/>
            <a:ext cx="1088136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20640"/>
            <a:ext cx="731520" cy="64008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2400" b="1">
                <a:solidFill>
                  <a:srgbClr val="007AFF"/>
                </a:solidFill>
                <a:latin typeface="Calibri"/>
              </a:rPr>
              <a:t>#4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166360"/>
            <a:ext cx="941832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Multi-Model Without Mayhem: interoperability and routing positioning to reduce vendor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SALES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Sales Motion &amp;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10B981"/>
                </a:solidFill>
                <a:latin typeface="Calibri"/>
              </a:rPr>
              <a:t>PROSPECT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Target accounts with high agentic workflow potenti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DISCOVER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Quantify pains, success metrics, and governance 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007AFF"/>
                </a:solidFill>
                <a:latin typeface="Calibri"/>
              </a:rPr>
              <a:t>SOLUTION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Co-design agent architecture, governance toolkit,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2376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Prove value in production-like environment with 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468880"/>
            <a:ext cx="27432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2000" b="0">
                <a:solidFill>
                  <a:srgbClr val="5A6472"/>
                </a:solidFill>
                <a:latin typeface="Calibr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18320" y="2011680"/>
            <a:ext cx="192024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5A64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0" y="2148840"/>
            <a:ext cx="1737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200" b="1">
                <a:solidFill>
                  <a:srgbClr val="5A6472"/>
                </a:solidFill>
                <a:latin typeface="Calibri"/>
              </a:rPr>
              <a:t>PROCURE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560320"/>
            <a:ext cx="1737360" cy="73152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000" b="0">
                <a:solidFill>
                  <a:srgbClr val="212934"/>
                </a:solidFill>
                <a:latin typeface="Calibri"/>
              </a:rPr>
              <a:t>Close commercials, security, and legal.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Qualification Framework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297680"/>
            <a:ext cx="10881360" cy="1371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MEDDICC adapted for Enterprise AI Agents: Metrics (business KPIs like cycle time, CSAT, defect rate), Economic Buyer (CIO/CDO/P&amp;L owner), Decision Criteria (security, governance, latency, accuracy, TCO), Decision Process (pilot-&gt;risk review-&gt;security-&gt;legal-&gt;exec signoff), Identify Pain (agentic workflow gaps, talent bottlenecks), Champion (VP AI/Platform), Competition (Anthropic, Google/DeepMind, Azure AI; status quo); add Technical Fit (cloud, data residency, model constraints) and Governance Fit (RACI, audit, evals).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90-Day GTM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Calibri"/>
              </a:rPr>
              <a:t>Weeks 1–4 (Foundations)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Stand up governance-as-a-feature and scalable enterprise playbooks.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Governance Toolkit v1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Vertical Agent Blueprints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Frontier Program Packaging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Pod Enablement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07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007AFF"/>
                </a:solidFill>
                <a:latin typeface="Calibri"/>
              </a:rPr>
              <a:t>Weeks 5–8 (Activate)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Run pilots at scale; validate governance and economics.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Pilot Wave 1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Eval &amp; Red-Team Program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Multi-Model Orchestration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Demand Gen Campaigns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74720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Weeks 9–13 (Scale)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560320"/>
            <a:ext cx="310896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200" b="0">
                <a:solidFill>
                  <a:srgbClr val="212934"/>
                </a:solidFill>
                <a:latin typeface="Calibri"/>
              </a:rPr>
              <a:t>Convert pilots to production; expand footprints and partner delivery.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29184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Production Hardening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Pilot-to-Prod Conversions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Expansion Playbooks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Partner Scale-up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KPIs &amp; 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881360" cy="914400"/>
          </a:xfrm>
          <a:prstGeom prst="roundRect">
            <a:avLst/>
          </a:prstGeom>
          <a:solidFill>
            <a:srgbClr val="007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332720" cy="548640"/>
          </a:xfrm>
          <a:prstGeom prst="rect">
            <a:avLst/>
          </a:prstGeom>
          <a:noFill/>
        </p:spPr>
        <p:txBody>
          <a:bodyPr wrap="square" anchor="ctr" lIns="0" r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North Star: Number of production agent workflows live at enterprise customers (per quarter)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Qualified Frontier Program opportunities created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30–50 per quarter globally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Signals pipeline of enterprises ready for co-design and pilo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Governance toolkit activations (enterprise tenants)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100–150 activations per quarter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Proxy for de-risked deployments and faster security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Vertical blueprint downloads/clones (coding, support, knowledge)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5,000–8,000 per quarter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Top-of-funnel product interest with intent to build.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3017520"/>
            <a:ext cx="2560320" cy="2286000"/>
          </a:xfrm>
          <a:prstGeom prst="round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3200400"/>
            <a:ext cx="228600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300" b="1">
                <a:solidFill>
                  <a:srgbClr val="1E2761"/>
                </a:solidFill>
                <a:latin typeface="Calibri"/>
              </a:rPr>
              <a:t>Partner-attached deals (% of enterprise bookings)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749039"/>
            <a:ext cx="228600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600" b="1">
                <a:solidFill>
                  <a:srgbClr val="007AFF"/>
                </a:solidFill>
                <a:latin typeface="Calibri"/>
              </a:rPr>
              <a:t>35%–50% partner-attached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38912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ctr"/>
            <a:r>
              <a:rPr sz="1000" b="0">
                <a:solidFill>
                  <a:srgbClr val="5A6472"/>
                </a:solidFill>
                <a:latin typeface="Calibri"/>
              </a:rPr>
              <a:t>Scales delivery capacity and mitigates talent bottlenecks.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1">
                <a:solidFill>
                  <a:srgbClr val="5A6472"/>
                </a:solidFill>
                <a:latin typeface="Calibr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3200" b="1">
                <a:solidFill>
                  <a:srgbClr val="1E2761"/>
                </a:solidFill>
                <a:latin typeface="Calibri"/>
              </a:rPr>
              <a:t>Sources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881360" cy="9144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300" b="0">
                <a:solidFill>
                  <a:srgbClr val="212934"/>
                </a:solidFill>
                <a:latin typeface="Calibri"/>
              </a:rPr>
              <a:t>This analysis is based on comprehensive market research including competitive intelligence, customer insights, market trends, and strategic frameworks.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Key 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openai.smapply.org: 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github.com: OpenAI - GitHub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open-openai.com: Congratulations! - OpenOpenAI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Products and applications of OpenAI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en.wikipedia.org: OpenAI - Wikipedia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OpenAI Frontier | Enterprise platform for AI agents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openai.com: AI Platforms to Accelerate your Business | 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chatgpt.com: ChatGPT for enterprise - OpenAI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distillintelligence.com: OpenAI Competitors: Complete List &amp; Market Landscape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212934"/>
                </a:solidFill>
                <a:latin typeface="Calibri"/>
              </a:rPr>
              <a:t>• thebusinessdive.com: Top 12 OpenAI Competitors &amp; Alternatives Revealed (2026)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