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822960" y="2103120"/>
            <a:ext cx="10515600" cy="457200"/>
          </a:xfrm>
          <a:prstGeom prst="rect">
            <a:avLst/>
          </a:prstGeom>
          <a:noFill/>
        </p:spPr>
        <p:txBody>
          <a:bodyPr wrap="square" anchor="t" lIns="0" rIns="0">
            <a:spAutoFit/>
          </a:bodyPr>
          <a:lstStyle/>
          <a:p>
            <a:pPr algn="l"/>
            <a:r>
              <a:rPr sz="1600" b="1">
                <a:solidFill>
                  <a:srgbClr val="CADCFC"/>
                </a:solidFill>
                <a:latin typeface="Calibri"/>
              </a:rPr>
              <a:t>MARKET INTELLIGENCE &amp; GTM</a:t>
            </a:r>
          </a:p>
        </p:txBody>
      </p:sp>
      <p:sp>
        <p:nvSpPr>
          <p:cNvPr id="3" name="TextBox 2"/>
          <p:cNvSpPr txBox="1"/>
          <p:nvPr/>
        </p:nvSpPr>
        <p:spPr>
          <a:xfrm>
            <a:off x="822960" y="2651760"/>
            <a:ext cx="10515600" cy="1828800"/>
          </a:xfrm>
          <a:prstGeom prst="rect">
            <a:avLst/>
          </a:prstGeom>
          <a:noFill/>
        </p:spPr>
        <p:txBody>
          <a:bodyPr wrap="square" anchor="t" lIns="0" rIns="0">
            <a:spAutoFit/>
          </a:bodyPr>
          <a:lstStyle/>
          <a:p>
            <a:pPr algn="l"/>
            <a:r>
              <a:rPr sz="4400" b="1">
                <a:solidFill>
                  <a:srgbClr val="FFFFFF"/>
                </a:solidFill>
                <a:latin typeface="Calibri"/>
              </a:rPr>
              <a:t>OpenAI</a:t>
            </a:r>
          </a:p>
        </p:txBody>
      </p:sp>
      <p:sp>
        <p:nvSpPr>
          <p:cNvPr id="4" name="TextBox 3"/>
          <p:cNvSpPr txBox="1"/>
          <p:nvPr/>
        </p:nvSpPr>
        <p:spPr>
          <a:xfrm>
            <a:off x="822960" y="4480560"/>
            <a:ext cx="10515600" cy="914400"/>
          </a:xfrm>
          <a:prstGeom prst="rect">
            <a:avLst/>
          </a:prstGeom>
          <a:noFill/>
        </p:spPr>
        <p:txBody>
          <a:bodyPr wrap="square" anchor="t" lIns="0" rIns="0">
            <a:spAutoFit/>
          </a:bodyPr>
          <a:lstStyle/>
          <a:p>
            <a:pPr algn="l"/>
            <a:r>
              <a:rPr sz="2000" b="0">
                <a:solidFill>
                  <a:srgbClr val="CADCFC"/>
                </a:solidFill>
                <a:latin typeface="Calibri"/>
              </a:rPr>
              <a:t>Executive Market Brief, GTM Strategy &amp; Content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EXECUTIVE SUMMARY</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OpenAI</a:t>
            </a:r>
          </a:p>
        </p:txBody>
      </p:sp>
      <p:sp>
        <p:nvSpPr>
          <p:cNvPr id="4" name="TextBox 3"/>
          <p:cNvSpPr txBox="1"/>
          <p:nvPr/>
        </p:nvSpPr>
        <p:spPr>
          <a:xfrm>
            <a:off x="640080" y="1737360"/>
            <a:ext cx="10881360" cy="3291840"/>
          </a:xfrm>
          <a:prstGeom prst="rect">
            <a:avLst/>
          </a:prstGeom>
          <a:noFill/>
        </p:spPr>
        <p:txBody>
          <a:bodyPr wrap="square" anchor="t" lIns="0" rIns="0">
            <a:spAutoFit/>
          </a:bodyPr>
          <a:lstStyle/>
          <a:p>
            <a:pPr algn="l"/>
            <a:r>
              <a:rPr sz="1600" b="0">
                <a:solidFill>
                  <a:srgbClr val="212934"/>
                </a:solidFill>
                <a:latin typeface="Calibri"/>
              </a:rPr>
              <a:t>OpenAI operates as a global AI research and deployment company offering foundation models, enterprise AI agent deployment services, and developer APIs. Its mission focuses on ensuring AGI benefits all of humanity, supported by grants and programs that encourage responsible adoption and research [1]. OpenAI has been recognized by Gartner in emerging and enterprise categories, signaling credibility for enterprise-scale deployments and coding agents [50][51]. The company recently introduced an enterprise-focused Frontier Program to co-design architectures, governance, and production AI agents with customers—evidence of a deep B2B motion alongside its well-known consumer products [6]. The broader AI platform market is expanding rapidly, driven by genAI adoption, cloud deployment, and enterprise demand, yet faces constraints such as talent shortages and explainability challenges [48][49]. Competitive intensity remains high, notably from Anthropic and Google/DeepMind. OpenAI’s opportunity lies in scaling enterprise agentic workflows, compliance/governance tooling, and verticalized solutions while proactively managing regulatory, compute, and reputational risks.</a:t>
            </a:r>
          </a:p>
        </p:txBody>
      </p:sp>
      <p:sp>
        <p:nvSpPr>
          <p:cNvPr id="5" name="TextBox 4"/>
          <p:cNvSpPr txBox="1"/>
          <p:nvPr/>
        </p:nvSpPr>
        <p:spPr>
          <a:xfrm>
            <a:off x="640080" y="5760720"/>
            <a:ext cx="10881360" cy="548640"/>
          </a:xfrm>
          <a:prstGeom prst="rect">
            <a:avLst/>
          </a:prstGeom>
          <a:noFill/>
        </p:spPr>
        <p:txBody>
          <a:bodyPr wrap="square" anchor="t" lIns="0" rIns="0">
            <a:spAutoFit/>
          </a:bodyPr>
          <a:lstStyle/>
          <a:p>
            <a:pPr algn="l"/>
            <a:r>
              <a:rPr sz="1300" b="1">
                <a:solidFill>
                  <a:srgbClr val="5A6472"/>
                </a:solidFill>
                <a:latin typeface="Calibri"/>
              </a:rPr>
              <a:t>Confidence: medium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POSITION</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SWOT</a:t>
            </a:r>
          </a:p>
        </p:txBody>
      </p:sp>
      <p:sp>
        <p:nvSpPr>
          <p:cNvPr id="4" name="Rectangle 3"/>
          <p:cNvSpPr/>
          <p:nvPr/>
        </p:nvSpPr>
        <p:spPr>
          <a:xfrm>
            <a:off x="640080" y="1737360"/>
            <a:ext cx="5166360" cy="2286000"/>
          </a:xfrm>
          <a:prstGeom prst="rect">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847088"/>
            <a:ext cx="4846320" cy="365760"/>
          </a:xfrm>
          <a:prstGeom prst="rect">
            <a:avLst/>
          </a:prstGeom>
          <a:noFill/>
        </p:spPr>
        <p:txBody>
          <a:bodyPr wrap="square" anchor="t" lIns="0" rIns="0">
            <a:spAutoFit/>
          </a:bodyPr>
          <a:lstStyle/>
          <a:p>
            <a:pPr algn="l"/>
            <a:r>
              <a:rPr sz="1600" b="1">
                <a:solidFill>
                  <a:srgbClr val="1E2761"/>
                </a:solidFill>
                <a:latin typeface="Calibri"/>
              </a:rPr>
              <a:t>Strengths</a:t>
            </a:r>
          </a:p>
        </p:txBody>
      </p:sp>
      <p:sp>
        <p:nvSpPr>
          <p:cNvPr id="6" name="TextBox 5"/>
          <p:cNvSpPr txBox="1"/>
          <p:nvPr/>
        </p:nvSpPr>
        <p:spPr>
          <a:xfrm>
            <a:off x="822960" y="2286000"/>
            <a:ext cx="4800600" cy="1645920"/>
          </a:xfrm>
          <a:prstGeom prst="rect">
            <a:avLst/>
          </a:prstGeom>
          <a:noFill/>
        </p:spPr>
        <p:txBody>
          <a:bodyPr wrap="square">
            <a:spAutoFit/>
          </a:bodyPr>
          <a:lstStyle/>
          <a:p>
            <a:pPr>
              <a:spcAft>
                <a:spcPts val="600"/>
              </a:spcAft>
            </a:pPr>
            <a:r>
              <a:rPr sz="1200">
                <a:solidFill>
                  <a:srgbClr val="212934"/>
                </a:solidFill>
                <a:latin typeface="Calibri"/>
              </a:rPr>
              <a:t>• Recognized by Gartner as a Leader in Enterprise AI Coding Agents, reinforcing enterprise credibility and agentic capability focus.</a:t>
            </a:r>
          </a:p>
          <a:p>
            <a:pPr>
              <a:spcAft>
                <a:spcPts val="600"/>
              </a:spcAft>
            </a:pPr>
            <a:r>
              <a:rPr sz="1200">
                <a:solidFill>
                  <a:srgbClr val="212934"/>
                </a:solidFill>
                <a:latin typeface="Calibri"/>
              </a:rPr>
              <a:t>• Named as an Emerging Leader in Gartner’s Innovation Guide for Generative AI Model Providers, signaling innovation velocity and market influence.</a:t>
            </a:r>
          </a:p>
          <a:p>
            <a:pPr>
              <a:spcAft>
                <a:spcPts val="600"/>
              </a:spcAft>
            </a:pPr>
            <a:r>
              <a:rPr sz="1200">
                <a:solidFill>
                  <a:srgbClr val="212934"/>
                </a:solidFill>
                <a:latin typeface="Calibri"/>
              </a:rPr>
              <a:t>• Enterprise Frontier Program pairs forward-deployed engineers to design governance and run agents in production, accelerating customer time-to-value.</a:t>
            </a:r>
          </a:p>
        </p:txBody>
      </p:sp>
      <p:sp>
        <p:nvSpPr>
          <p:cNvPr id="7" name="Rectangle 6"/>
          <p:cNvSpPr/>
          <p:nvPr/>
        </p:nvSpPr>
        <p:spPr>
          <a:xfrm>
            <a:off x="6355080" y="1737360"/>
            <a:ext cx="5166360" cy="2286000"/>
          </a:xfrm>
          <a:prstGeom prst="rect">
            <a:avLst/>
          </a:prstGeom>
          <a:solidFill>
            <a:srgbClr val="F3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60" y="1847088"/>
            <a:ext cx="4846320" cy="365760"/>
          </a:xfrm>
          <a:prstGeom prst="rect">
            <a:avLst/>
          </a:prstGeom>
          <a:noFill/>
        </p:spPr>
        <p:txBody>
          <a:bodyPr wrap="square" anchor="t" lIns="0" rIns="0">
            <a:spAutoFit/>
          </a:bodyPr>
          <a:lstStyle/>
          <a:p>
            <a:pPr algn="l"/>
            <a:r>
              <a:rPr sz="1600" b="1">
                <a:solidFill>
                  <a:srgbClr val="1E2761"/>
                </a:solidFill>
                <a:latin typeface="Calibri"/>
              </a:rPr>
              <a:t>Weaknesses</a:t>
            </a:r>
          </a:p>
        </p:txBody>
      </p:sp>
      <p:sp>
        <p:nvSpPr>
          <p:cNvPr id="9" name="TextBox 8"/>
          <p:cNvSpPr txBox="1"/>
          <p:nvPr/>
        </p:nvSpPr>
        <p:spPr>
          <a:xfrm>
            <a:off x="6537960" y="2286000"/>
            <a:ext cx="4800600" cy="1645920"/>
          </a:xfrm>
          <a:prstGeom prst="rect">
            <a:avLst/>
          </a:prstGeom>
          <a:noFill/>
        </p:spPr>
        <p:txBody>
          <a:bodyPr wrap="square">
            <a:spAutoFit/>
          </a:bodyPr>
          <a:lstStyle/>
          <a:p>
            <a:pPr>
              <a:spcAft>
                <a:spcPts val="600"/>
              </a:spcAft>
            </a:pPr>
            <a:r>
              <a:rPr sz="1200">
                <a:solidFill>
                  <a:srgbClr val="212934"/>
                </a:solidFill>
                <a:latin typeface="Calibri"/>
              </a:rPr>
              <a:t>• High enterprise expectations for secure, governed, and explainable deployments increase delivery complexity and services burden.</a:t>
            </a:r>
          </a:p>
          <a:p>
            <a:pPr>
              <a:spcAft>
                <a:spcPts val="600"/>
              </a:spcAft>
            </a:pPr>
            <a:r>
              <a:rPr sz="1200">
                <a:solidFill>
                  <a:srgbClr val="212934"/>
                </a:solidFill>
                <a:latin typeface="Calibri"/>
              </a:rPr>
              <a:t>• Heavy reliance on cutting-edge compute supply exposes sensitivity to cost and capacity constraints common in AI platform scale-up.</a:t>
            </a:r>
          </a:p>
        </p:txBody>
      </p:sp>
      <p:sp>
        <p:nvSpPr>
          <p:cNvPr id="10" name="Rectangle 9"/>
          <p:cNvSpPr/>
          <p:nvPr/>
        </p:nvSpPr>
        <p:spPr>
          <a:xfrm>
            <a:off x="640080" y="4206240"/>
            <a:ext cx="5166360" cy="2286000"/>
          </a:xfrm>
          <a:prstGeom prst="rect">
            <a:avLst/>
          </a:prstGeom>
          <a:solidFill>
            <a:srgbClr val="D9F0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315968"/>
            <a:ext cx="4846320" cy="365760"/>
          </a:xfrm>
          <a:prstGeom prst="rect">
            <a:avLst/>
          </a:prstGeom>
          <a:noFill/>
        </p:spPr>
        <p:txBody>
          <a:bodyPr wrap="square" anchor="t" lIns="0" rIns="0">
            <a:spAutoFit/>
          </a:bodyPr>
          <a:lstStyle/>
          <a:p>
            <a:pPr algn="l"/>
            <a:r>
              <a:rPr sz="1600" b="1">
                <a:solidFill>
                  <a:srgbClr val="1E2761"/>
                </a:solidFill>
                <a:latin typeface="Calibri"/>
              </a:rPr>
              <a:t>Opportunities</a:t>
            </a:r>
          </a:p>
        </p:txBody>
      </p:sp>
      <p:sp>
        <p:nvSpPr>
          <p:cNvPr id="12" name="TextBox 11"/>
          <p:cNvSpPr txBox="1"/>
          <p:nvPr/>
        </p:nvSpPr>
        <p:spPr>
          <a:xfrm>
            <a:off x="822960" y="4754880"/>
            <a:ext cx="4800600" cy="1645920"/>
          </a:xfrm>
          <a:prstGeom prst="rect">
            <a:avLst/>
          </a:prstGeom>
          <a:noFill/>
        </p:spPr>
        <p:txBody>
          <a:bodyPr wrap="square">
            <a:spAutoFit/>
          </a:bodyPr>
          <a:lstStyle/>
          <a:p>
            <a:pPr>
              <a:spcAft>
                <a:spcPts val="600"/>
              </a:spcAft>
            </a:pPr>
            <a:r>
              <a:rPr sz="1200">
                <a:solidFill>
                  <a:srgbClr val="212934"/>
                </a:solidFill>
                <a:latin typeface="Calibri"/>
              </a:rPr>
              <a:t>• Rapid global AI platform adoption—cloud-first deployments and enterprise demand for genAI/agentic workflows—creates room for scaled platform and services growth.</a:t>
            </a:r>
          </a:p>
          <a:p>
            <a:pPr>
              <a:spcAft>
                <a:spcPts val="600"/>
              </a:spcAft>
            </a:pPr>
            <a:r>
              <a:rPr sz="1200">
                <a:solidFill>
                  <a:srgbClr val="212934"/>
                </a:solidFill>
                <a:latin typeface="Calibri"/>
              </a:rPr>
              <a:t>• Formalizing governance, safety, and compliance frameworks as product features can differentiate amid industry concerns about black-box effects and responsible AI.</a:t>
            </a:r>
          </a:p>
          <a:p>
            <a:pPr>
              <a:spcAft>
                <a:spcPts val="600"/>
              </a:spcAft>
            </a:pPr>
            <a:r>
              <a:rPr sz="1200">
                <a:solidFill>
                  <a:srgbClr val="212934"/>
                </a:solidFill>
                <a:latin typeface="Calibri"/>
              </a:rPr>
              <a:t>• Verticalized agent solutions (e.g., coding agents recognized by Gartner) can expand into adjacent enterprise functions and industries.</a:t>
            </a:r>
          </a:p>
        </p:txBody>
      </p:sp>
      <p:sp>
        <p:nvSpPr>
          <p:cNvPr id="13" name="Rectangle 12"/>
          <p:cNvSpPr/>
          <p:nvPr/>
        </p:nvSpPr>
        <p:spPr>
          <a:xfrm>
            <a:off x="6355080" y="4206240"/>
            <a:ext cx="5166360" cy="2286000"/>
          </a:xfrm>
          <a:prstGeom prst="rect">
            <a:avLst/>
          </a:prstGeom>
          <a:solidFill>
            <a:srgbClr val="F6E7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4315968"/>
            <a:ext cx="4846320" cy="365760"/>
          </a:xfrm>
          <a:prstGeom prst="rect">
            <a:avLst/>
          </a:prstGeom>
          <a:noFill/>
        </p:spPr>
        <p:txBody>
          <a:bodyPr wrap="square" anchor="t" lIns="0" rIns="0">
            <a:spAutoFit/>
          </a:bodyPr>
          <a:lstStyle/>
          <a:p>
            <a:pPr algn="l"/>
            <a:r>
              <a:rPr sz="1600" b="1">
                <a:solidFill>
                  <a:srgbClr val="1E2761"/>
                </a:solidFill>
                <a:latin typeface="Calibri"/>
              </a:rPr>
              <a:t>Threats</a:t>
            </a:r>
          </a:p>
        </p:txBody>
      </p:sp>
      <p:sp>
        <p:nvSpPr>
          <p:cNvPr id="15" name="TextBox 14"/>
          <p:cNvSpPr txBox="1"/>
          <p:nvPr/>
        </p:nvSpPr>
        <p:spPr>
          <a:xfrm>
            <a:off x="6537960" y="4754880"/>
            <a:ext cx="4800600" cy="1645920"/>
          </a:xfrm>
          <a:prstGeom prst="rect">
            <a:avLst/>
          </a:prstGeom>
          <a:noFill/>
        </p:spPr>
        <p:txBody>
          <a:bodyPr wrap="square">
            <a:spAutoFit/>
          </a:bodyPr>
          <a:lstStyle/>
          <a:p>
            <a:pPr>
              <a:spcAft>
                <a:spcPts val="600"/>
              </a:spcAft>
            </a:pPr>
            <a:r>
              <a:rPr sz="1200">
                <a:solidFill>
                  <a:srgbClr val="212934"/>
                </a:solidFill>
                <a:latin typeface="Calibri"/>
              </a:rPr>
              <a:t>• Intense competition from Anthropic (Claude family) and Google/DeepMind raises switching options for enterprises and developers.</a:t>
            </a:r>
          </a:p>
          <a:p>
            <a:pPr>
              <a:spcAft>
                <a:spcPts val="600"/>
              </a:spcAft>
            </a:pPr>
            <a:r>
              <a:rPr sz="1200">
                <a:solidFill>
                  <a:srgbClr val="212934"/>
                </a:solidFill>
                <a:latin typeface="Calibri"/>
              </a:rPr>
              <a:t>• Market skepticism around explainability, talent shortages, and all-at-once adoption risks could slow or stall enterprise rollouts.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LANDSCAPE</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Key Competitors</a:t>
            </a:r>
          </a:p>
        </p:txBody>
      </p:sp>
      <p:graphicFrame>
        <p:nvGraphicFramePr>
          <p:cNvPr id="4" name="Table 3"/>
          <p:cNvGraphicFramePr>
            <a:graphicFrameLocks noGrp="1"/>
          </p:cNvGraphicFramePr>
          <p:nvPr/>
        </p:nvGraphicFramePr>
        <p:xfrm>
          <a:off x="640080" y="1737360"/>
          <a:ext cx="10881360" cy="1828800"/>
        </p:xfrm>
        <a:graphic>
          <a:graphicData uri="http://schemas.openxmlformats.org/drawingml/2006/table">
            <a:tbl>
              <a:tblPr firstRow="1" bandRow="1">
                <a:tableStyleId>{5C22544A-7EE6-4342-B048-85BDC9FD1C3A}</a:tableStyleId>
              </a:tblPr>
              <a:tblGrid>
                <a:gridCol w="3017520"/>
                <a:gridCol w="7863840"/>
              </a:tblGrid>
              <a:tr h="365760">
                <a:tc>
                  <a:txBody>
                    <a:bodyPr/>
                    <a:lstStyle/>
                    <a:p>
                      <a:r>
                        <a:rPr b="1" sz="1300">
                          <a:solidFill>
                            <a:srgbClr val="FFFFFF"/>
                          </a:solidFill>
                        </a:rPr>
                        <a:t>Competitor</a:t>
                      </a:r>
                    </a:p>
                  </a:txBody>
                  <a:tcPr>
                    <a:solidFill>
                      <a:srgbClr val="1E2761"/>
                    </a:solidFill>
                  </a:tcPr>
                </a:tc>
                <a:tc>
                  <a:txBody>
                    <a:bodyPr/>
                    <a:lstStyle/>
                    <a:p>
                      <a:r>
                        <a:rPr b="1" sz="1300">
                          <a:solidFill>
                            <a:srgbClr val="FFFFFF"/>
                          </a:solidFill>
                        </a:rPr>
                        <a:t>Positioning / Note</a:t>
                      </a:r>
                    </a:p>
                  </a:txBody>
                  <a:tcPr>
                    <a:solidFill>
                      <a:srgbClr val="1E2761"/>
                    </a:solidFill>
                  </a:tcPr>
                </a:tc>
              </a:tr>
              <a:tr h="365760">
                <a:tc>
                  <a:txBody>
                    <a:bodyPr/>
                    <a:lstStyle/>
                    <a:p>
                      <a:r>
                        <a:rPr sz="1200">
                          <a:solidFill>
                            <a:srgbClr val="212934"/>
                          </a:solidFill>
                        </a:rPr>
                        <a:t>Anthropic</a:t>
                      </a:r>
                    </a:p>
                  </a:txBody>
                  <a:tcPr/>
                </a:tc>
                <a:tc>
                  <a:txBody>
                    <a:bodyPr/>
                    <a:lstStyle/>
                    <a:p>
                      <a:r>
                        <a:rPr sz="1200">
                          <a:solidFill>
                            <a:srgbClr val="212934"/>
                          </a:solidFill>
                        </a:rPr>
                        <a:t>Frontier-grade Claude models and platform for safe, reliable AI assistants and agents.</a:t>
                      </a:r>
                    </a:p>
                  </a:txBody>
                  <a:tcPr/>
                </a:tc>
              </a:tr>
              <a:tr h="365760">
                <a:tc>
                  <a:txBody>
                    <a:bodyPr/>
                    <a:lstStyle/>
                    <a:p>
                      <a:r>
                        <a:rPr sz="1200">
                          <a:solidFill>
                            <a:srgbClr val="212934"/>
                          </a:solidFill>
                        </a:rPr>
                        <a:t>Google (Gemini and DeepMind)</a:t>
                      </a:r>
                    </a:p>
                  </a:txBody>
                  <a:tcPr/>
                </a:tc>
                <a:tc>
                  <a:txBody>
                    <a:bodyPr/>
                    <a:lstStyle/>
                    <a:p>
                      <a:r>
                        <a:rPr sz="1200">
                          <a:solidFill>
                            <a:srgbClr val="212934"/>
                          </a:solidFill>
                        </a:rPr>
                        <a:t>Gemini AI assistant for consumers and developers; DeepMind research powering applied AI ac</a:t>
                      </a:r>
                    </a:p>
                  </a:txBody>
                  <a:tcPr/>
                </a:tc>
              </a:tr>
              <a:tr h="365760">
                <a:tc>
                  <a:txBody>
                    <a:bodyPr/>
                    <a:lstStyle/>
                    <a:p>
                      <a:r>
                        <a:rPr sz="1200">
                          <a:solidFill>
                            <a:srgbClr val="212934"/>
                          </a:solidFill>
                        </a:rPr>
                        <a:t>Microsoft Azure AI</a:t>
                      </a:r>
                    </a:p>
                  </a:txBody>
                  <a:tcPr/>
                </a:tc>
                <a:tc>
                  <a:txBody>
                    <a:bodyPr/>
                    <a:lstStyle/>
                    <a:p>
                      <a:r>
                        <a:rPr sz="1200">
                          <a:solidFill>
                            <a:srgbClr val="212934"/>
                          </a:solidFill>
                        </a:rPr>
                        <a:t>Enterprise-grade cloud AI platform to build secure, responsible AI apps and agents with ac</a:t>
                      </a:r>
                    </a:p>
                  </a:txBody>
                  <a:tcPr/>
                </a:tc>
              </a:tr>
              <a:tr h="365760">
                <a:tc>
                  <a:txBody>
                    <a:bodyPr/>
                    <a:lstStyle/>
                    <a:p>
                      <a:r>
                        <a:rPr sz="1200">
                          <a:solidFill>
                            <a:srgbClr val="212934"/>
                          </a:solidFill>
                        </a:rPr>
                        <a:t>Anthropic Claude (consumer and developer entry)</a:t>
                      </a:r>
                    </a:p>
                  </a:txBody>
                  <a:tcPr/>
                </a:tc>
                <a:tc>
                  <a:txBody>
                    <a:bodyPr/>
                    <a:lstStyle/>
                    <a:p>
                      <a:r>
                        <a:rPr sz="1200">
                          <a:solidFill>
                            <a:srgbClr val="212934"/>
                          </a:solidFill>
                        </a:rPr>
                        <a:t>AI assistant accessible on web and mobile with developer platform access to models for bui</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GO-TO-MARKET</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Strategy</a:t>
            </a:r>
          </a:p>
        </p:txBody>
      </p:sp>
      <p:sp>
        <p:nvSpPr>
          <p:cNvPr id="4" name="TextBox 3"/>
          <p:cNvSpPr txBox="1"/>
          <p:nvPr/>
        </p:nvSpPr>
        <p:spPr>
          <a:xfrm>
            <a:off x="640080" y="1691640"/>
            <a:ext cx="10881360" cy="822960"/>
          </a:xfrm>
          <a:prstGeom prst="rect">
            <a:avLst/>
          </a:prstGeom>
          <a:noFill/>
        </p:spPr>
        <p:txBody>
          <a:bodyPr wrap="square" anchor="t" lIns="0" rIns="0">
            <a:spAutoFit/>
          </a:bodyPr>
          <a:lstStyle/>
          <a:p>
            <a:pPr algn="l"/>
            <a:r>
              <a:rPr sz="1600" b="1">
                <a:solidFill>
                  <a:srgbClr val="1E2761"/>
                </a:solidFill>
                <a:latin typeface="Calibri"/>
              </a:rPr>
              <a:t>North Star: </a:t>
            </a:r>
          </a:p>
          <a:p>
            <a:pPr algn="l"/>
            <a:r>
              <a:rPr sz="1600" b="0">
                <a:solidFill>
                  <a:srgbClr val="212934"/>
                </a:solidFill>
                <a:latin typeface="Calibri"/>
              </a:rPr>
              <a:t>Win global enterprise AI by owning governed, production-grade agent workflows—monetized through enterprise platform contracts (usage + seats), Frontier co-delivery, and vertical agent solutions with measurable ROI.</a:t>
            </a:r>
          </a:p>
        </p:txBody>
      </p:sp>
      <p:sp>
        <p:nvSpPr>
          <p:cNvPr id="5" name="TextBox 4"/>
          <p:cNvSpPr txBox="1"/>
          <p:nvPr/>
        </p:nvSpPr>
        <p:spPr>
          <a:xfrm>
            <a:off x="640080" y="2514600"/>
            <a:ext cx="10881360" cy="1005840"/>
          </a:xfrm>
          <a:prstGeom prst="rect">
            <a:avLst/>
          </a:prstGeom>
          <a:noFill/>
        </p:spPr>
        <p:txBody>
          <a:bodyPr wrap="square" anchor="t" lIns="0" rIns="0">
            <a:spAutoFit/>
          </a:bodyPr>
          <a:lstStyle/>
          <a:p>
            <a:pPr algn="l"/>
            <a:r>
              <a:rPr sz="1500" b="1">
                <a:solidFill>
                  <a:srgbClr val="1E2761"/>
                </a:solidFill>
                <a:latin typeface="Calibri"/>
              </a:rPr>
              <a:t>Positioning. </a:t>
            </a:r>
          </a:p>
          <a:p>
            <a:pPr algn="l"/>
            <a:r>
              <a:rPr sz="1400" b="0">
                <a:solidFill>
                  <a:srgbClr val="212934"/>
                </a:solidFill>
                <a:latin typeface="Calibri"/>
              </a:rPr>
              <a:t>For enterprise AI transformation leaders who must ship governed, production-grade AI agents fast, OpenAI is the enterprise AI platform that delivers frontier models, compliant governance, and repeatable agent blueprints. Unlike Anthropic and Google/DeepMind, we pair model leadership with the Frontier Program for co-designed architectures and production operations, plus first-class multi-model orchestration.</a:t>
            </a:r>
          </a:p>
        </p:txBody>
      </p:sp>
      <p:sp>
        <p:nvSpPr>
          <p:cNvPr id="6" name="TextBox 5"/>
          <p:cNvSpPr txBox="1"/>
          <p:nvPr/>
        </p:nvSpPr>
        <p:spPr>
          <a:xfrm>
            <a:off x="640080" y="3611880"/>
            <a:ext cx="5120640" cy="365760"/>
          </a:xfrm>
          <a:prstGeom prst="rect">
            <a:avLst/>
          </a:prstGeom>
          <a:noFill/>
        </p:spPr>
        <p:txBody>
          <a:bodyPr wrap="square" anchor="t" lIns="0" rIns="0">
            <a:spAutoFit/>
          </a:bodyPr>
          <a:lstStyle/>
          <a:p>
            <a:pPr algn="l"/>
            <a:r>
              <a:rPr sz="1500" b="1">
                <a:solidFill>
                  <a:srgbClr val="1E2761"/>
                </a:solidFill>
                <a:latin typeface="Calibri"/>
              </a:rPr>
              <a:t>Competitive Wedge</a:t>
            </a:r>
          </a:p>
        </p:txBody>
      </p:sp>
      <p:sp>
        <p:nvSpPr>
          <p:cNvPr id="7" name="TextBox 6"/>
          <p:cNvSpPr txBox="1"/>
          <p:nvPr/>
        </p:nvSpPr>
        <p:spPr>
          <a:xfrm>
            <a:off x="640080" y="4023360"/>
            <a:ext cx="5120640" cy="2194560"/>
          </a:xfrm>
          <a:prstGeom prst="rect">
            <a:avLst/>
          </a:prstGeom>
          <a:noFill/>
        </p:spPr>
        <p:txBody>
          <a:bodyPr wrap="square">
            <a:spAutoFit/>
          </a:bodyPr>
          <a:lstStyle/>
          <a:p>
            <a:pPr>
              <a:spcAft>
                <a:spcPts val="600"/>
              </a:spcAft>
            </a:pPr>
            <a:r>
              <a:rPr sz="1200">
                <a:solidFill>
                  <a:srgbClr val="212934"/>
                </a:solidFill>
                <a:latin typeface="Calibri"/>
              </a:rPr>
              <a:t>• Ship governed agents to production faster—Frontier engineers, blueprints, and KPIs turn Claude pilots into OpenAI outcomes.</a:t>
            </a:r>
          </a:p>
          <a:p>
            <a:pPr>
              <a:spcAft>
                <a:spcPts val="600"/>
              </a:spcAft>
            </a:pPr>
            <a:r>
              <a:rPr sz="1200">
                <a:solidFill>
                  <a:srgbClr val="212934"/>
                </a:solidFill>
                <a:latin typeface="Calibri"/>
              </a:rPr>
              <a:t>• When enterprise governance and agent operations matter, choose OpenAI’s production playbook—not a consumer bundle.</a:t>
            </a:r>
          </a:p>
          <a:p>
            <a:pPr>
              <a:spcAft>
                <a:spcPts val="600"/>
              </a:spcAft>
            </a:pPr>
            <a:r>
              <a:rPr sz="1200">
                <a:solidFill>
                  <a:srgbClr val="212934"/>
                </a:solidFill>
                <a:latin typeface="Calibri"/>
              </a:rPr>
              <a:t>• Keep Azure—win production agents faster with OpenAI governance, blueprints, and multi-model freedom.</a:t>
            </a:r>
          </a:p>
          <a:p>
            <a:pPr>
              <a:spcAft>
                <a:spcPts val="600"/>
              </a:spcAft>
            </a:pPr>
            <a:r>
              <a:rPr sz="1200">
                <a:solidFill>
                  <a:srgbClr val="212934"/>
                </a:solidFill>
                <a:latin typeface="Calibri"/>
              </a:rPr>
              <a:t>• Graduate from chat to production: OpenAI turns team trials into governed enterprise agents with measurable ROI.</a:t>
            </a:r>
          </a:p>
        </p:txBody>
      </p:sp>
      <p:sp>
        <p:nvSpPr>
          <p:cNvPr id="8" name="TextBox 7"/>
          <p:cNvSpPr txBox="1"/>
          <p:nvPr/>
        </p:nvSpPr>
        <p:spPr>
          <a:xfrm>
            <a:off x="6126480" y="3611880"/>
            <a:ext cx="5394960" cy="365760"/>
          </a:xfrm>
          <a:prstGeom prst="rect">
            <a:avLst/>
          </a:prstGeom>
          <a:noFill/>
        </p:spPr>
        <p:txBody>
          <a:bodyPr wrap="square" anchor="t" lIns="0" rIns="0">
            <a:spAutoFit/>
          </a:bodyPr>
          <a:lstStyle/>
          <a:p>
            <a:pPr algn="l"/>
            <a:r>
              <a:rPr sz="1500" b="1">
                <a:solidFill>
                  <a:srgbClr val="1E2761"/>
                </a:solidFill>
                <a:latin typeface="Calibri"/>
              </a:rPr>
              <a:t>Motion: Enterprise sales-led co-design (Frontier Program) with repeatable agent blueprints and governance toolkit</a:t>
            </a:r>
          </a:p>
        </p:txBody>
      </p:sp>
      <p:sp>
        <p:nvSpPr>
          <p:cNvPr id="9" name="TextBox 8"/>
          <p:cNvSpPr txBox="1"/>
          <p:nvPr/>
        </p:nvSpPr>
        <p:spPr>
          <a:xfrm>
            <a:off x="6126480" y="4023360"/>
            <a:ext cx="5394960" cy="2194560"/>
          </a:xfrm>
          <a:prstGeom prst="rect">
            <a:avLst/>
          </a:prstGeom>
          <a:noFill/>
        </p:spPr>
        <p:txBody>
          <a:bodyPr wrap="square">
            <a:spAutoFit/>
          </a:bodyPr>
          <a:lstStyle/>
          <a:p>
            <a:pPr>
              <a:spcAft>
                <a:spcPts val="600"/>
              </a:spcAft>
            </a:pPr>
            <a:r>
              <a:rPr sz="1200">
                <a:solidFill>
                  <a:srgbClr val="212934"/>
                </a:solidFill>
                <a:latin typeface="Calibri"/>
              </a:rPr>
              <a:t>→ Weeks 1–4 (Foundations): Stand up governance-as-a-feature and scalable enterprise playbooks.</a:t>
            </a:r>
          </a:p>
          <a:p>
            <a:pPr>
              <a:spcAft>
                <a:spcPts val="600"/>
              </a:spcAft>
            </a:pPr>
            <a:r>
              <a:rPr sz="1200">
                <a:solidFill>
                  <a:srgbClr val="212934"/>
                </a:solidFill>
                <a:latin typeface="Calibri"/>
              </a:rPr>
              <a:t>→ Weeks 5–8 (Activate): Run pilots at scale; validate governance and economics.</a:t>
            </a:r>
          </a:p>
          <a:p>
            <a:pPr>
              <a:spcAft>
                <a:spcPts val="600"/>
              </a:spcAft>
            </a:pPr>
            <a:r>
              <a:rPr sz="1200">
                <a:solidFill>
                  <a:srgbClr val="212934"/>
                </a:solidFill>
                <a:latin typeface="Calibri"/>
              </a:rPr>
              <a:t>→ Weeks 9–13 (Scale): Convert pilots to production; expand footprints and partner delivery.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10972800" cy="365760"/>
          </a:xfrm>
          <a:prstGeom prst="rect">
            <a:avLst/>
          </a:prstGeom>
          <a:noFill/>
        </p:spPr>
        <p:txBody>
          <a:bodyPr wrap="square" anchor="t" lIns="0" rIns="0">
            <a:spAutoFit/>
          </a:bodyPr>
          <a:lstStyle/>
          <a:p>
            <a:pPr algn="l"/>
            <a:r>
              <a:rPr sz="1300" b="1">
                <a:solidFill>
                  <a:srgbClr val="5A6472"/>
                </a:solidFill>
                <a:latin typeface="Calibri"/>
              </a:rPr>
              <a:t>MARKETING CONTENT (PHASE B)</a:t>
            </a:r>
          </a:p>
        </p:txBody>
      </p:sp>
      <p:sp>
        <p:nvSpPr>
          <p:cNvPr id="3" name="TextBox 2"/>
          <p:cNvSpPr txBox="1"/>
          <p:nvPr/>
        </p:nvSpPr>
        <p:spPr>
          <a:xfrm>
            <a:off x="640080" y="822960"/>
            <a:ext cx="10972800" cy="731520"/>
          </a:xfrm>
          <a:prstGeom prst="rect">
            <a:avLst/>
          </a:prstGeom>
          <a:noFill/>
        </p:spPr>
        <p:txBody>
          <a:bodyPr wrap="square" anchor="t" lIns="0" rIns="0">
            <a:spAutoFit/>
          </a:bodyPr>
          <a:lstStyle/>
          <a:p>
            <a:pPr algn="l"/>
            <a:r>
              <a:rPr sz="3200" b="1">
                <a:solidFill>
                  <a:srgbClr val="1E2761"/>
                </a:solidFill>
                <a:latin typeface="Calibri"/>
              </a:rPr>
              <a:t>Launch-Ready Assets</a:t>
            </a:r>
          </a:p>
        </p:txBody>
      </p:sp>
      <p:sp>
        <p:nvSpPr>
          <p:cNvPr id="4" name="Rectangle 3"/>
          <p:cNvSpPr/>
          <p:nvPr/>
        </p:nvSpPr>
        <p:spPr>
          <a:xfrm>
            <a:off x="64008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74519"/>
            <a:ext cx="3108960" cy="365760"/>
          </a:xfrm>
          <a:prstGeom prst="rect">
            <a:avLst/>
          </a:prstGeom>
          <a:noFill/>
        </p:spPr>
        <p:txBody>
          <a:bodyPr wrap="square" anchor="t" lIns="0" rIns="0">
            <a:spAutoFit/>
          </a:bodyPr>
          <a:lstStyle/>
          <a:p>
            <a:pPr algn="l"/>
            <a:r>
              <a:rPr sz="1700" b="1">
                <a:solidFill>
                  <a:srgbClr val="1E2761"/>
                </a:solidFill>
                <a:latin typeface="Calibri"/>
              </a:rPr>
              <a:t>LinkedIn</a:t>
            </a:r>
          </a:p>
        </p:txBody>
      </p:sp>
      <p:sp>
        <p:nvSpPr>
          <p:cNvPr id="6" name="TextBox 5"/>
          <p:cNvSpPr txBox="1"/>
          <p:nvPr/>
        </p:nvSpPr>
        <p:spPr>
          <a:xfrm>
            <a:off x="868680" y="2377440"/>
            <a:ext cx="3154680" cy="3383280"/>
          </a:xfrm>
          <a:prstGeom prst="rect">
            <a:avLst/>
          </a:prstGeom>
          <a:noFill/>
        </p:spPr>
        <p:txBody>
          <a:bodyPr wrap="square">
            <a:spAutoFit/>
          </a:bodyPr>
          <a:lstStyle/>
          <a:p>
            <a:pPr>
              <a:spcAft>
                <a:spcPts val="600"/>
              </a:spcAft>
            </a:pPr>
            <a:r>
              <a:rPr sz="1200">
                <a:solidFill>
                  <a:srgbClr val="212934"/>
                </a:solidFill>
                <a:latin typeface="Calibri"/>
              </a:rPr>
              <a:t>• Pilots don’t fail from AI—they fail from operations.</a:t>
            </a:r>
          </a:p>
          <a:p>
            <a:pPr>
              <a:spcAft>
                <a:spcPts val="600"/>
              </a:spcAft>
            </a:pPr>
            <a:r>
              <a:rPr sz="1200">
                <a:solidFill>
                  <a:srgbClr val="212934"/>
                </a:solidFill>
                <a:latin typeface="Calibri"/>
              </a:rPr>
              <a:t>• The chatbot era ended. Agent ops just began.</a:t>
            </a:r>
          </a:p>
          <a:p>
            <a:pPr>
              <a:spcAft>
                <a:spcPts val="600"/>
              </a:spcAft>
            </a:pPr>
            <a:r>
              <a:rPr sz="1200">
                <a:solidFill>
                  <a:srgbClr val="212934"/>
                </a:solidFill>
                <a:latin typeface="Calibri"/>
              </a:rPr>
              <a:t>• Production agents need guardrails, not guesswork.</a:t>
            </a:r>
          </a:p>
        </p:txBody>
      </p:sp>
      <p:sp>
        <p:nvSpPr>
          <p:cNvPr id="7" name="Rectangle 6"/>
          <p:cNvSpPr/>
          <p:nvPr/>
        </p:nvSpPr>
        <p:spPr>
          <a:xfrm>
            <a:off x="434340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874519"/>
            <a:ext cx="3108960" cy="365760"/>
          </a:xfrm>
          <a:prstGeom prst="rect">
            <a:avLst/>
          </a:prstGeom>
          <a:noFill/>
        </p:spPr>
        <p:txBody>
          <a:bodyPr wrap="square" anchor="t" lIns="0" rIns="0">
            <a:spAutoFit/>
          </a:bodyPr>
          <a:lstStyle/>
          <a:p>
            <a:pPr algn="l"/>
            <a:r>
              <a:rPr sz="1700" b="1">
                <a:solidFill>
                  <a:srgbClr val="1E2761"/>
                </a:solidFill>
                <a:latin typeface="Calibri"/>
              </a:rPr>
              <a:t>Blog</a:t>
            </a:r>
          </a:p>
        </p:txBody>
      </p:sp>
      <p:sp>
        <p:nvSpPr>
          <p:cNvPr id="9" name="TextBox 8"/>
          <p:cNvSpPr txBox="1"/>
          <p:nvPr/>
        </p:nvSpPr>
        <p:spPr>
          <a:xfrm>
            <a:off x="4572000" y="2377440"/>
            <a:ext cx="3154680" cy="3383280"/>
          </a:xfrm>
          <a:prstGeom prst="rect">
            <a:avLst/>
          </a:prstGeom>
          <a:noFill/>
        </p:spPr>
        <p:txBody>
          <a:bodyPr wrap="square">
            <a:spAutoFit/>
          </a:bodyPr>
          <a:lstStyle/>
          <a:p>
            <a:pPr>
              <a:spcAft>
                <a:spcPts val="600"/>
              </a:spcAft>
            </a:pPr>
            <a:r>
              <a:rPr sz="1200">
                <a:solidFill>
                  <a:srgbClr val="212934"/>
                </a:solidFill>
                <a:latin typeface="Calibri"/>
              </a:rPr>
              <a:t>• From Chat to Agents: A Governance-First Playbook for Enterprise AI</a:t>
            </a:r>
          </a:p>
          <a:p>
            <a:pPr>
              <a:spcAft>
                <a:spcPts val="600"/>
              </a:spcAft>
            </a:pPr>
            <a:r>
              <a:rPr sz="1200">
                <a:solidFill>
                  <a:srgbClr val="212934"/>
                </a:solidFill>
                <a:latin typeface="Calibri"/>
              </a:rPr>
              <a:t>• Coding Agents in Production: A Practical Guide for Engineering Leaders</a:t>
            </a:r>
          </a:p>
        </p:txBody>
      </p:sp>
      <p:sp>
        <p:nvSpPr>
          <p:cNvPr id="10" name="Rectangle 9"/>
          <p:cNvSpPr/>
          <p:nvPr/>
        </p:nvSpPr>
        <p:spPr>
          <a:xfrm>
            <a:off x="8046720" y="1737360"/>
            <a:ext cx="3566160" cy="4206240"/>
          </a:xfrm>
          <a:prstGeom prst="rect">
            <a:avLst/>
          </a:prstGeom>
          <a:solidFill>
            <a:srgbClr val="F2F5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75320" y="1874519"/>
            <a:ext cx="3108960" cy="365760"/>
          </a:xfrm>
          <a:prstGeom prst="rect">
            <a:avLst/>
          </a:prstGeom>
          <a:noFill/>
        </p:spPr>
        <p:txBody>
          <a:bodyPr wrap="square" anchor="t" lIns="0" rIns="0">
            <a:spAutoFit/>
          </a:bodyPr>
          <a:lstStyle/>
          <a:p>
            <a:pPr algn="l"/>
            <a:r>
              <a:rPr sz="1700" b="1">
                <a:solidFill>
                  <a:srgbClr val="1E2761"/>
                </a:solidFill>
                <a:latin typeface="Calibri"/>
              </a:rPr>
              <a:t>Email</a:t>
            </a:r>
          </a:p>
        </p:txBody>
      </p:sp>
      <p:sp>
        <p:nvSpPr>
          <p:cNvPr id="12" name="TextBox 11"/>
          <p:cNvSpPr txBox="1"/>
          <p:nvPr/>
        </p:nvSpPr>
        <p:spPr>
          <a:xfrm>
            <a:off x="8275320" y="2377440"/>
            <a:ext cx="3154680" cy="3383280"/>
          </a:xfrm>
          <a:prstGeom prst="rect">
            <a:avLst/>
          </a:prstGeom>
          <a:noFill/>
        </p:spPr>
        <p:txBody>
          <a:bodyPr wrap="square">
            <a:spAutoFit/>
          </a:bodyPr>
          <a:lstStyle/>
          <a:p>
            <a:pPr>
              <a:spcAft>
                <a:spcPts val="600"/>
              </a:spcAft>
            </a:pPr>
            <a:r>
              <a:rPr sz="1200">
                <a:solidFill>
                  <a:srgbClr val="212934"/>
                </a:solidFill>
                <a:latin typeface="Calibri"/>
              </a:rPr>
              <a:t>• Your coding agents need governance—before quarter-end incidents do</a:t>
            </a:r>
          </a:p>
          <a:p>
            <a:pPr>
              <a:spcAft>
                <a:spcPts val="600"/>
              </a:spcAft>
            </a:pPr>
            <a:r>
              <a:rPr sz="1200">
                <a:solidFill>
                  <a:srgbClr val="212934"/>
                </a:solidFill>
                <a:latin typeface="Calibri"/>
              </a:rPr>
              <a:t>• From chat to agents: the governance checklist engineering trusts</a:t>
            </a:r>
          </a:p>
          <a:p>
            <a:pPr>
              <a:spcAft>
                <a:spcPts val="600"/>
              </a:spcAft>
            </a:pPr>
            <a:r>
              <a:rPr sz="1200">
                <a:solidFill>
                  <a:srgbClr val="212934"/>
                </a:solidFill>
                <a:latin typeface="Calibri"/>
              </a:rPr>
              <a:t>• Introducing the Frontier Playbook: governed agents to production, faster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TextBox 1"/>
          <p:cNvSpPr txBox="1"/>
          <p:nvPr/>
        </p:nvSpPr>
        <p:spPr>
          <a:xfrm>
            <a:off x="822960" y="640080"/>
            <a:ext cx="10515600" cy="731520"/>
          </a:xfrm>
          <a:prstGeom prst="rect">
            <a:avLst/>
          </a:prstGeom>
          <a:noFill/>
        </p:spPr>
        <p:txBody>
          <a:bodyPr wrap="square" anchor="t" lIns="0" rIns="0">
            <a:spAutoFit/>
          </a:bodyPr>
          <a:lstStyle/>
          <a:p>
            <a:pPr algn="l"/>
            <a:r>
              <a:rPr sz="3200" b="1">
                <a:solidFill>
                  <a:srgbClr val="FFFFFF"/>
                </a:solidFill>
                <a:latin typeface="Calibri"/>
              </a:rPr>
              <a:t>Recommendations</a:t>
            </a:r>
          </a:p>
        </p:txBody>
      </p:sp>
      <p:sp>
        <p:nvSpPr>
          <p:cNvPr id="3" name="TextBox 2"/>
          <p:cNvSpPr txBox="1"/>
          <p:nvPr/>
        </p:nvSpPr>
        <p:spPr>
          <a:xfrm>
            <a:off x="822960" y="1737360"/>
            <a:ext cx="10515600" cy="4389120"/>
          </a:xfrm>
          <a:prstGeom prst="rect">
            <a:avLst/>
          </a:prstGeom>
          <a:noFill/>
        </p:spPr>
        <p:txBody>
          <a:bodyPr wrap="square">
            <a:spAutoFit/>
          </a:bodyPr>
          <a:lstStyle/>
          <a:p>
            <a:pPr>
              <a:spcAft>
                <a:spcPts val="600"/>
              </a:spcAft>
            </a:pPr>
            <a:r>
              <a:rPr sz="1800">
                <a:solidFill>
                  <a:srgbClr val="CADCFC"/>
                </a:solidFill>
                <a:latin typeface="Calibri"/>
              </a:rPr>
              <a:t>• Productize governance: Launch an enterprise governance toolkit (auditing, access controls, evals, incident workflows) to reduce black-box and adoption risks noted in the market [48].</a:t>
            </a:r>
          </a:p>
          <a:p>
            <a:pPr>
              <a:spcAft>
                <a:spcPts val="600"/>
              </a:spcAft>
            </a:pPr>
            <a:r>
              <a:rPr sz="1800">
                <a:solidFill>
                  <a:srgbClr val="CADCFC"/>
                </a:solidFill>
                <a:latin typeface="Calibri"/>
              </a:rPr>
              <a:t>• Scale agent playbooks: Publish and support 5-10 vertical agent blueprints (e.g., code remediation, support triage) with KPIs to shorten time-to-production and leverage the Gartner coding-agent momentum [50].</a:t>
            </a:r>
          </a:p>
          <a:p>
            <a:pPr>
              <a:spcAft>
                <a:spcPts val="600"/>
              </a:spcAft>
            </a:pPr>
            <a:r>
              <a:rPr sz="1800">
                <a:solidFill>
                  <a:srgbClr val="CADCFC"/>
                </a:solidFill>
                <a:latin typeface="Calibri"/>
              </a:rPr>
              <a:t>• Expand delivery capacity: Grow the Frontier Program partner ecosystem (GSIs/SIs) to meet enterprise implementation demand and mitigate talent bottlenecks [6][48].</a:t>
            </a:r>
          </a:p>
          <a:p>
            <a:pPr>
              <a:spcAft>
                <a:spcPts val="600"/>
              </a:spcAft>
            </a:pPr>
            <a:r>
              <a:rPr sz="1800">
                <a:solidFill>
                  <a:srgbClr val="CADCFC"/>
                </a:solidFill>
                <a:latin typeface="Calibri"/>
              </a:rPr>
              <a:t>• Harden multi-model strategy: Offer first-class orchestration and routing to interoperate with third-party models, reducing competitive displacement risk while anchoring customers on OpenAI tooling [17][18][19].</a:t>
            </a:r>
          </a:p>
          <a:p>
            <a:pPr>
              <a:spcAft>
                <a:spcPts val="600"/>
              </a:spcAft>
            </a:pPr>
            <a:r>
              <a:rPr sz="1800">
                <a:solidFill>
                  <a:srgbClr val="CADCFC"/>
                </a:solidFill>
                <a:latin typeface="Calibri"/>
              </a:rPr>
              <a:t>• Optimize compute economics: Negotiate long-term capacity agreements and advance caching/batching features to lower unit costs and protect margins amid scaling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